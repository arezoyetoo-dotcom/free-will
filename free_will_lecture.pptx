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Welcome everyone. Today we examine whether humans make their own choices, or if conscious volition is a sophisticated neurological illusion. This inquiry will bridge 2,500 years of metaphysical philosophy with modern 21st-century neuroscience, fMRI decoding, single-neuron recordings, and the restructuring of the criminal justice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We begin with our everyday intuition. When you stand at a crossroads in the woods, you feel with absolute conviction: 'I could have chosen otherwise.' Yet in the landmark PhilPapers survey of professional philosophers, nearly 60% reject naive libertarian freedom and instead embrace Compatibilism—the view that agency must be redefined within a deterministic universe.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In classical physics, the cosmos is a closed causal machine. Pierre-Simon Laplace postulated that if an omniscient intellect knew the position and momentum of every particle at the dawn of time, the entire future would be mathematically transparent. Under this view, your choice of breakfast today was baked into the cosmic microwave background 13.8 billion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In 1983, Benjamin Libet struck the first empirical blow against metaphysical free will. By synchronizing EEG readouts with a high-speed rotating clock, he proved that the brain generates an electrical Readiness Potential approximately 350 milliseconds BEFORE the subject experiences the conscious urge to move. Consciousness arrives late to its own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Critics claimed Libet's 350ms gap was just measurement error. But in 2008, John-Dylan Haynes at the Max Planck Institute used fMRI pattern classifiers to decode whether a subject would choose a left or right button up to 10 full seconds before the person consciously made the decision. In 2011, Itzhak Fried confirmed this at the single-neuron level with over 80%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In 2012, Aaron Schurger flipped the neuroscientific narrative upside down. He showed that when you average noisy signals backward from an arbitrary threshold event, you mathematically produce what looks like a ramp. The Readiness Potential may not be a subconscious command at all, but random cortical noise that tipped the motor scales. Free will was not dead after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Whenever determinism threatens human ego, people run to quantum mechanics. 'Heisenberg showed the universe is probabilistic!' they celebrate. But this is the Randomness Fallacy. Randomness is the diametric opposite of authorial control. If a roulette wheel in your brain causes you to pull a trigger, you are not free; you are malfunctioning.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Here is the master trilemma. Hard Determinism says free will is zero. Benjamin Libet proposed 'Free Won't'—the conscious mind cannot initiate impulses, but it has a 150ms veto power to block them. And Compatibilism argues that freedom never meant defying gravity; it means acting in alignment with your authentic desires without external physical chains.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In 1969, Harry Frankfurt dismantled the foundation of libertarian metaphysics. Through the thought experiment of Jones and Black, he proved that moral responsibility does not require the physical ability to have chosen otherwise. What matters is not whether you could have avoided the action, but whether the action flowed from your authentic internal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In his monumental 2023 book 'Determined', Stanford neurobiologist Robert Sapolsky mapped human behavior across seven orders of magnitude: from millisecond firing in the amygdala, to circulating hormones yesterday, to childhood trauma, to embryonic epigenetics, to thousands of years of cultural ecology. There is no biological gap where a magical soul can slip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If free will is an illusion, the entire foundation of our criminal justice system collapses. Retributive punishment—the idea that people deserve pain for their crimes—becomes as barbaric as burning epileptics at the stake. Derk Pereboom proposed the Quarantine Model: just as we quarantine an Ebola carrier to protect society without hating or torturing them, we must isolate dangerous offenders humanely while focusing on rehabilitation.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Jean-Paul Sartre delivered the existential counter-strike in 'Being and Nothingness'. Sartre acknowledged that our starting cards—our facticity—are determined. But human consciousness is condemned to interpret those cards. Hiding behind determinism, trauma, or genetics to excuse your behavior is what Sartre termed 'Bad Faith'—the cowardice of pretending you are an inanimate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What happens when people abandon free will? Kathleen Vohs and Jonathan Schooler warned that telling people they have no agency increases cheating and moral apathy. This led Saul Smilansky to advocate 'Illusionism'—that free will is a necessary lie. But the flip side is glorious: accepting determinism destroys arrogant pride, dissolves bitter vengeance, and creates radical empathy for human suffering.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In conclusion: You are not a supernatural ghost floating above physics. You are an awe-inspiring, self-reflective deterministic system capable of inspecting its own wiring. Determinism is not fatalism—your deliberations and thoughts matter because they are the very physical mechanisms that cause the future. You are at the crossroads now. How will you navigate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01 // METAPHYSICS &amp; NEUROSCIENCE</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Free Will: Real or Fake?</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A Philosophical Odyssey, Empirical Investigation, and Moral Reckoning</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Do human beings exercise genuine autonomous agency, or is conscious volition an illusory byproduct of deterministic physical, biological, and historical causality?</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Existential Tension</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Every waking moment feels like a crossroads of sovereign choice.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Classical physics, neurobiology, and genetics describe a closed causal universe.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If determinism holds, can moral praise, blame, and justice survive?</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Curriculum Map (14 Key Modules)</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Part 1: The Intuition &amp; The Falling Dominoes (Slides 1-3)</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Part 2: The Neural Evidence &amp; Counter-Rebellion (Slides 4-7)</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Part 3: The Trilemma &amp; Compatibilism (Slides 8-10)</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Part 4: Law, Justice, &amp; The Quarantine Model (Slides 11-14)</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2,500+</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HISTORICAL DEBATE</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Years of inquiry</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1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02 // EMPIRICAL INTUITION &amp; METAPHYSICS</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Crossroads &amp; The PhilPapers Consensus</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The Sensation of Alternate Possibilities vs Professional Philosophical Stances</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What do the world's leading academic philosophers believe about free will?</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Intuition of Alternate Possibilities</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Principle of Alternate Possibilities (PAP): To be free, you must have been able to choose otherwise under the exact same prior conditions.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Standing at a forest fork: Consciousness asserts that both paths were genuinely accessible.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The Dilemma: Can physical causality allow multiple future states from one past state?</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PhilPapers Global Survey (Leading Philosophers)</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59.2% Compatibilism: Free will is compatible with physical determinism.</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19.7% Libertarianism: Genuine non-deterministic metaphysical free will exists.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12.2% Hard Determinism / Incompatibilism: Free will is a complete illusion.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8.9% Other / Agnostic / Multiple Stances.</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59.2%</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COMPATIBILIST CONSENSUS</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Top academic philosophers</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2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03 // CLASSICAL METAPHYSICS</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Universal Determinism &amp; Laplace's Demon</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The Universe as an Unbroken Kinetic Cascade from the Big Bang</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If every atom follows immutable physical laws, is human choice simply Domino #14?</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Domino Cascade Analogy</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In a line of falling dominoes, Domino #14 does not 'decide' to fall.</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Its collapse is strictly dictated by kinetic energy from Domino #13.</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Human brains are composed of physical particles, neurotransmitters, and ions.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Is conscious intention merely the feeling of being knocked over?</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Laplace's Demon (Pierre-Simon Laplace, 1814)</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An intellect possessing complete knowledge of all atomic positions and velocities could compute the entire past and future with 100% precision.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Formula: State(t) = f(State(t-1), Physical Laws).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Human uncertainty is merely computational ignorance, not genuine randomness or soul-agency.</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100%</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CAUSAL CERTAINTY</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Under classical Newtonian mechanics</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3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04 // CLASSICAL NEUROSCIENCE (1983)</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Benjamin Libet &amp; The 300ms Time Gap</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The Discovery of the Bereitschaftspotential (Readiness Potential)</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Does the unconscious brain initiate physical actions before conscious awareness?</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Experimental Protocol</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Subjects watched an oscilloscope clock revolving every 2.56 seconds.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Instructed to flick their wrist at a spontaneously chosen moment.</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Reported the exact clock position when they felt the first 'urge' (W-time).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Continuous EEG recorded motor cortex electrical preparation.</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The Staggering Empirical Discovery</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-550ms: Readiness Potential (RP) begins in the Supplementary Motor Area (SMA).</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-200ms: Conscious awareness of intention (W) is first experienced.</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350ms Gap: The brain initiates action 350 milliseconds BEFORE conscious thought!</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Conclusion: Consciousness is not the pilot; it is the Press Secretary.</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-350ms</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UNCONSCIOUS LEAD TIME</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Brain fires before conscious urge</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4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05 // 21ST-CENTURY NEUROSCIENCE</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Decoding Choices Seconds in Advance</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Haynes (2008) fMRI Pattern Recognition &amp; Fried (2011) Single-Neuron Tracking</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Can neuroimaging predict decisions long before you are aware of making them?</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John-Dylan Haynes (2008 / 2011 fMRI)</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Subjects inside fMRI chose between left and right response buttons freely.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High-dimensional pattern decoders monitored frontopolar cortex (BA10) and precuneus.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Result: Choices were reliably predicted up to 7 to 10 SECONDS before conscious awareness.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The predictive window widened from milliseconds to full seconds!</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Itzhak Fried (2011 Intracranial Recording)</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Recorded directly from 256 single neurons in human neurosurgical patients.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Decoded firing rate trajectories in the Supplementary Motor Area.</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Predicted individual motor decisions 700ms in advance with &gt;80% accuracy.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Demonstrated that macroscopic EEG matches micro-circuit neural commitments.</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10s</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PREDICTIVE WINDOW</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fMRI decoding prior to conscious awareness</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5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06 // THE SCIENTIFIC REBELLION (2012)</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Aaron Schurger's Stochastic Model</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Is the Readiness Potential an Illusion of Post-Hoc Signal Averaging?</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What if the brain isn't preparing a decision, but riding spontaneous neural noise?</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Stochastic Accumulator Hypothesis</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The brain is never silent; it generates continuous spontaneous cortical oscillations.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In spontaneous tasks with no external cue, action triggers when random neural noise fluctuates above a motor threshold.</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Averaging EEG backward from movement creates the mathematical illusion of a steady, purposeful pre-decision buildup.</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Scientific Paradigm Shift</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Libet assumed the Readiness Potential was an unconscious pre-motor command.</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Schurger demonstrated that the RP is a mathematical artifact of threshold-crossing registration.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Conscious intention does not lag the decision—it coincides exactly with threshold crossing.</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Libet's experiment does not disprove conscious agency!</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2012</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PARADIGM SHIFT</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Stochastic threshold model introduced</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6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07 // QUANTUM PHYSICS INQUIRY</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Quantum Mechanics &amp; The Randomness Fallacy</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Why Subatomic Indeterminacy Cannot Save Metaphysical Free Will</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Does quantum wave-function collapse grant humans genuine authored freedom?</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Heisenberg Escape Hatch</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Heisenberg's Uncertainty Principle proved that the subatomic realm is fundamentally probabilistic.</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Wave-function collapses (Copenhagen interpretation) break Laplace's strict Newtonian determinism.</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Many thinkers rushed to claim: 'Quantum indeterminacy rescues human free will!'</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The Inescapable Randomness Fallacy</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Randomness is NOT Freedom: Freedom requires intention, reason, and authorship.</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If your moral decision is determined by a random radioactive subatomic particle decay in a synapse, YOU did not author it.</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Being puppeted by quantum dice is no freer than being puppeted by deterministic dominoes.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Quantum mechanics replaces rigid fatalism with unpredictable chaos—not agency.</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0%</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AGENCY EQUATION</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Authorship derived from pure quantum randomness</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7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08 // THE PHILOSOPHICAL TRILEMMA</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Three Pillars of Free Will Theory</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Hard Determinism, 'Free Won't' Veto, and Compatibilist Realism</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How do philosophers categorize the metaphysical possibilities of choice?</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1. Hard Determinism &amp; Incompatibilism</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Free will is a total illusion (Spinoza, Sam Harris, Robert Sapolsky).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Physics and prior biology determine 100% of human output.</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Retributive punishment and moral vanity are philosophically irrational.</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2. 'Free Won't' &amp; 3. Modern Compatibilism</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Free Won't (Libet, Ramachandran): The unconscious proposes urges; consciousness retains a 150ms veto window to abort action.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Compatibilism (Hume, Frankfurt, Dennett): Free will does not require breaking the laws of physics.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To be free simply means acting on your authentic internal desires without external coercion.</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150ms</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VETO WINDOW</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Window of conscious inhibitory control ('Free Won't')</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8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09 // COMPATIBILIST THOUGHT EXPERIMENT</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Harry Frankfurt &amp; Alternate Possibilities</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Why Moral Responsibility Does Not Require the Ability to Do Otherwise</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Can you be genuinely responsible for an act if you could never have avoided it?</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Case of Black &amp; Jones (Frankfurt, 1969)</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Voter Jones enters the polling booth to decide between Candidate A and B.</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Evil Neurosurgeon Black implants a dormant microchip in Jones's brain.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If Jones decides to vote A on his own, the chip remains completely dormant.</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If Jones hesitates toward B, the chip overrides his brain and forces him to vote A.</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The Groundbreaking Philosophical Takeaway</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Scenario: Jones votes for Candidate A entirely on his own accord. Black never intervenes.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Could Jones have done otherwise? NO (the chip made that physically impossible).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Was Jones morally responsible? YES (he acted from his own internal desire).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Conclusion: The Principle of Alternate Possibilities (PAP) is false. Responsibility is internal ownership!</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1969</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PAP REFUTED</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Frankfurt decouples alternatives from responsibility</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9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10 // BEHAVIORAL BIOLOGY (2023)</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Robert Sapolsky's Biocultural Web</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Determined: A Science of Life Without Free Will (The Multi-Scale Causal Chain)</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Where in the biology of human behavior could an uncaused soul possibly fit?</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Hierarchy of Micro-Causes</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1 Second Before: Action potentials race between amygdala and prefrontal cortex.</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Minutes Before: Sensory triggers, room temperature, ambient smells, and hunger hormones.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Hours to Days Before: Circulating testosterone, cortisol spikes, and stress levels.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Weeks to Months Before: Neuroplastic dendritic arborization and synaptic rewiring.</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The Macro-Historical Foundations</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Adolescence: The prefrontal cortex does not fully myelinate until age 25.</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Fetal Development &amp; Epigenetics: Maternal stress tags genes via methylation.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Ancestral Millennia: Cultural ecology (pastoralists vs rice farmers) shapes social wiring.</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Sapolsky's Verdict: 'Show me a single neuron free from this causal cascade.'</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13.8B</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CAUSAL HORIZON</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Years of biology and physics shaping your next second</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10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11 // MORAL JURISPRUDENCE &amp; LAW</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Rules, Justice, &amp; The Quarantine Model</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Derk Pereboom's Vision for Criminal Law Without Retributive Vengeance</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How can society enforce laws and protect citizens if criminals possess no free will?</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Illegitimacy of Retribution</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Retributive Justice relies on the belief that offenders 'deserve' suffering because they could have chosen otherwise.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If violent behavior is caused by brain tumors, trauma, and genetics, inflicting pain for vengeance is barbaric cruelty.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Society must transition from retributive punishment to preventative containment.</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Derk Pereboom's Public Health Quarantine Analogy</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When someone carries a deadly virus (Ebola), society quarantines them to protect public health.</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We do not hate the carrier, blame them, or torture them. We isolate them humanely and provide medical care.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Criminal law must function as quarantine: humane incapacitation, deterrence, and cognitive rehabilitation.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No offender should ever be subjected to gratuitous suffering.</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100%</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LEGAL PARADIGM</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Separation of public protection from retributive hate</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11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12 // EXISTENTIALIST PHILOSOPHY</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Jean-Paul Sartre: 'Condemned to Be Free'</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Radical Existential Responsibility and the Cowardice of 'Bad Faith'</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Even in a physically constrained world, can you escape the burden of choice?</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Weight of Human Consciousness</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'Man is condemned to be free; because once thrown into the world, he is responsible for everything he does.'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Facticity vs Meaning: Your starting facts (genetics, poverty, nationality) are unchosen.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However, you are perpetually forced to choose what meaning you assign to those facts.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Even choosing NOT to choose is still a definitive choice!</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Mauvaise Foi (Bad Faith)</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Bad Faith: Pretending to be an inanimate object or helpless victim to evade the terror of responsibility.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Saying 'My biology made me do it' or 'Society forced my hand' is an existential lie.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Existentialism does not promise cosmic ease; it demands terrifying personal ownership of your trajectory.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We author ourselves through every act.</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100%</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SARTRE (1943)</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Personal responsibility for your chosen attitude</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12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13 // PSYCHOLOGICAL &amp; SOCIETAL STAKES</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Psychological Stakes &amp; The Agency Dividend</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Illusionism (Saul Smilansky) vs The Gift of Deterministic Compassion</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What happens to human society when people stop believing in free will?</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Dark Side (Vohs &amp; Schooler, 2008)</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Psychology experiments showed that subjects primed with deterministic texts cheated more on tests.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Anti-free-will primes reduced charitable giving and increased aggressive behaviors.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Saul Smilansky's 'Illusionism': Free will is an objective myth, but a necessary social lie to prevent nihilism.</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The Bright Side: The Agency Dividend</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Destroys Toxic Pride: Recognizing that success is built on unearned luck, genetics, and family support.</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Dissolves Resentment: Eliminates bitter hatred toward wrongdoers, replacing vengeance with systemic solutions.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Unlocks Radical Compassion: Sees all suffering individuals as products of broken circumstances worthy of empathy.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Enhances Growth Mindset: Shifts focus from moral blame to environment optimization.</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+40%</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AGENCY DIVIDEND</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Boost in empathy and systemic problem solving</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13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3"/>
        </a:solidFill>
      </p:bgPr>
    </p:bg>
    <p:spTree>
      <p:nvGrpSpPr>
        <p:cNvPr id="1" name=""/>
        <p:cNvGrpSpPr/>
        <p:nvPr/>
      </p:nvGrpSpPr>
      <p:grpSpPr>
        <a:xfrm>
          <a:off x="0" y="0"/>
          <a:ext cx="0" cy="0"/>
          <a:chOff x="0" y="0"/>
          <a:chExt cx="0" cy="0"/>
        </a:xfrm>
      </p:grpSpPr>
      <p:sp>
        <p:nvSpPr>
          <p:cNvPr id="2" name="Shape 0"/>
          <p:cNvSpPr/>
          <p:nvPr/>
        </p:nvSpPr>
        <p:spPr>
          <a:xfrm>
            <a:off x="731520" y="320040"/>
            <a:ext cx="2926080" cy="292608"/>
          </a:xfrm>
          <a:prstGeom prst="roundRect">
            <a:avLst>
              <a:gd name="adj" fmla="val 46875"/>
            </a:avLst>
          </a:prstGeom>
          <a:solidFill>
            <a:srgbClr val="1E293B"/>
          </a:solidFill>
          <a:ln w="12700">
            <a:solidFill>
              <a:srgbClr val="38BDF8"/>
            </a:solidFill>
            <a:prstDash val="solid"/>
          </a:ln>
        </p:spPr>
      </p:sp>
      <p:sp>
        <p:nvSpPr>
          <p:cNvPr id="3" name="Text 1"/>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SLIDE 14 // GRAND SYNTHESIS &amp; VERDICT</a:t>
            </a:r>
            <a:endParaRPr lang="en-US" sz="9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Conscious Trajectory: An Open Verdict</a:t>
            </a:r>
            <a:endParaRPr lang="en-US" sz="2200" dirty="0"/>
          </a:p>
        </p:txBody>
      </p:sp>
      <p:sp>
        <p:nvSpPr>
          <p:cNvPr id="5" name="Text 3"/>
          <p:cNvSpPr/>
          <p:nvPr/>
        </p:nvSpPr>
        <p:spPr>
          <a:xfrm>
            <a:off x="731520" y="1234440"/>
            <a:ext cx="7680960" cy="320040"/>
          </a:xfrm>
          <a:prstGeom prst="rect">
            <a:avLst/>
          </a:prstGeom>
          <a:noFill/>
          <a:ln/>
        </p:spPr>
        <p:txBody>
          <a:bodyPr wrap="square" rtlCol="0" anchor="ctr"/>
          <a:lstStyle/>
          <a:p>
            <a:pPr indent="0" marL="0">
              <a:buNone/>
            </a:pPr>
            <a:r>
              <a:rPr lang="en-US" sz="1150" dirty="0">
                <a:solidFill>
                  <a:srgbClr val="CBD5E1"/>
                </a:solidFill>
                <a:latin typeface="Arial" pitchFamily="34" charset="0"/>
                <a:ea typeface="Arial" pitchFamily="34" charset="-122"/>
                <a:cs typeface="Arial" pitchFamily="34" charset="-120"/>
              </a:rPr>
              <a:t>We Are Not Supernatural Specters; We Are Self-Reflective Deterministic Navigators</a:t>
            </a:r>
            <a:endParaRPr lang="en-US" sz="1150" dirty="0"/>
          </a:p>
        </p:txBody>
      </p:sp>
      <p:sp>
        <p:nvSpPr>
          <p:cNvPr id="6" name="Shape 4"/>
          <p:cNvSpPr/>
          <p:nvPr/>
        </p:nvSpPr>
        <p:spPr>
          <a:xfrm>
            <a:off x="731520" y="1627632"/>
            <a:ext cx="7680960" cy="475488"/>
          </a:xfrm>
          <a:prstGeom prst="roundRect">
            <a:avLst>
              <a:gd name="adj" fmla="val 15385"/>
            </a:avLst>
          </a:prstGeom>
          <a:solidFill>
            <a:srgbClr val="111827"/>
          </a:solidFill>
          <a:ln w="12700">
            <a:solidFill>
              <a:srgbClr val="38BDF8"/>
            </a:solidFill>
            <a:prstDash val="solid"/>
          </a:ln>
        </p:spPr>
      </p:sp>
      <p:sp>
        <p:nvSpPr>
          <p:cNvPr id="7" name="Text 5"/>
          <p:cNvSpPr/>
          <p:nvPr/>
        </p:nvSpPr>
        <p:spPr>
          <a:xfrm>
            <a:off x="868680" y="1664208"/>
            <a:ext cx="7406640" cy="384048"/>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INQUIRY: What is the final synthesis of science, philosophy, and everyday lived experience?</a:t>
            </a:r>
            <a:endParaRPr lang="en-US" sz="1000" dirty="0"/>
          </a:p>
        </p:txBody>
      </p:sp>
      <p:sp>
        <p:nvSpPr>
          <p:cNvPr id="8" name="Shape 6"/>
          <p:cNvSpPr/>
          <p:nvPr/>
        </p:nvSpPr>
        <p:spPr>
          <a:xfrm>
            <a:off x="731520" y="2212848"/>
            <a:ext cx="3749040" cy="2423160"/>
          </a:xfrm>
          <a:prstGeom prst="roundRect">
            <a:avLst>
              <a:gd name="adj" fmla="val 3774"/>
            </a:avLst>
          </a:prstGeom>
          <a:solidFill>
            <a:srgbClr val="141824"/>
          </a:solidFill>
          <a:ln w="12700">
            <a:solidFill>
              <a:srgbClr val="2A344A"/>
            </a:solidFill>
            <a:prstDash val="solid"/>
          </a:ln>
        </p:spPr>
      </p:sp>
      <p:sp>
        <p:nvSpPr>
          <p:cNvPr id="9" name="Text 7"/>
          <p:cNvSpPr/>
          <p:nvPr/>
        </p:nvSpPr>
        <p:spPr>
          <a:xfrm>
            <a:off x="914400" y="2304288"/>
            <a:ext cx="3383280" cy="292608"/>
          </a:xfrm>
          <a:prstGeom prst="rect">
            <a:avLst/>
          </a:prstGeom>
          <a:noFill/>
          <a:ln/>
        </p:spPr>
        <p:txBody>
          <a:bodyPr wrap="square" rtlCol="0" anchor="ctr"/>
          <a:lstStyle/>
          <a:p>
            <a:pPr indent="0" marL="0">
              <a:buNone/>
            </a:pPr>
            <a:r>
              <a:rPr lang="en-US" sz="1200" b="1" dirty="0">
                <a:solidFill>
                  <a:srgbClr val="4ADE80"/>
                </a:solidFill>
                <a:latin typeface="Arial" pitchFamily="34" charset="0"/>
                <a:ea typeface="Arial" pitchFamily="34" charset="-122"/>
                <a:cs typeface="Arial" pitchFamily="34" charset="-120"/>
              </a:rPr>
              <a:t>The Scientific &amp; Philosophical Synthesis</a:t>
            </a:r>
            <a:endParaRPr lang="en-US" sz="1200" dirty="0"/>
          </a:p>
        </p:txBody>
      </p:sp>
      <p:sp>
        <p:nvSpPr>
          <p:cNvPr id="10" name="Text 8"/>
          <p:cNvSpPr/>
          <p:nvPr/>
        </p:nvSpPr>
        <p:spPr>
          <a:xfrm>
            <a:off x="91440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We are physical entities governed by natural laws, neural networks, and evolutionary history.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Yet we possess extraordinary feedback loops: counterfactual thinking, goal modeling, and inhibitory vetoes.</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Determinism does NOT equal Fatalism: Your thoughts, reflections, and deliberations are vital links in the causal chain.</a:t>
            </a:r>
            <a:endParaRPr lang="en-US" sz="1000" dirty="0"/>
          </a:p>
        </p:txBody>
      </p:sp>
      <p:sp>
        <p:nvSpPr>
          <p:cNvPr id="11" name="Shape 9"/>
          <p:cNvSpPr/>
          <p:nvPr/>
        </p:nvSpPr>
        <p:spPr>
          <a:xfrm>
            <a:off x="4663440" y="2212848"/>
            <a:ext cx="3749040" cy="2423160"/>
          </a:xfrm>
          <a:prstGeom prst="roundRect">
            <a:avLst>
              <a:gd name="adj" fmla="val 3774"/>
            </a:avLst>
          </a:prstGeom>
          <a:solidFill>
            <a:srgbClr val="141824"/>
          </a:solidFill>
          <a:ln w="12700">
            <a:solidFill>
              <a:srgbClr val="2A344A"/>
            </a:solidFill>
            <a:prstDash val="solid"/>
          </a:ln>
        </p:spPr>
      </p:sp>
      <p:sp>
        <p:nvSpPr>
          <p:cNvPr id="12" name="Text 10"/>
          <p:cNvSpPr/>
          <p:nvPr/>
        </p:nvSpPr>
        <p:spPr>
          <a:xfrm>
            <a:off x="4846320" y="2304288"/>
            <a:ext cx="3383280" cy="292608"/>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Your Turn at the Crossroads</a:t>
            </a:r>
            <a:endParaRPr lang="en-US" sz="1200" dirty="0"/>
          </a:p>
        </p:txBody>
      </p:sp>
      <p:sp>
        <p:nvSpPr>
          <p:cNvPr id="13" name="Text 11"/>
          <p:cNvSpPr/>
          <p:nvPr/>
        </p:nvSpPr>
        <p:spPr>
          <a:xfrm>
            <a:off x="4846320" y="2651760"/>
            <a:ext cx="3383280" cy="1874520"/>
          </a:xfrm>
          <a:prstGeom prst="rect">
            <a:avLst/>
          </a:prstGeom>
          <a:noFill/>
          <a:ln/>
        </p:spPr>
        <p:txBody>
          <a:bodyPr wrap="square" rtlCol="0" anchor="ctr"/>
          <a:lstStyle/>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You are the universe becoming aware of its own causal trajectory.</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By understanding the biological and social dominos that push you, you gain the power to rearrange the dominos for the future.</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The debate between Real and Fake transforms into the art of conscious self-navigation.</a:t>
            </a:r>
            <a:endParaRPr lang="en-US" sz="1000" dirty="0"/>
          </a:p>
          <a:p>
            <a:pPr marL="342900" indent="-342900">
              <a:lnSpc>
                <a:spcPts val="1600"/>
              </a:lnSpc>
              <a:buSzPct val="100000"/>
              <a:buChar char="•"/>
            </a:pPr>
            <a:r>
              <a:rPr lang="en-US" sz="1000" dirty="0">
                <a:solidFill>
                  <a:srgbClr val="FFFFFF"/>
                </a:solidFill>
                <a:latin typeface="Arial" pitchFamily="34" charset="0"/>
                <a:ea typeface="Arial" pitchFamily="34" charset="-122"/>
                <a:cs typeface="Arial" pitchFamily="34" charset="-120"/>
              </a:rPr>
              <a:t>Thank you for embarking on this philosophical odyssey.</a:t>
            </a:r>
            <a:endParaRPr lang="en-US" sz="1000" dirty="0"/>
          </a:p>
        </p:txBody>
      </p:sp>
      <p:sp>
        <p:nvSpPr>
          <p:cNvPr id="14" name="Shape 12"/>
          <p:cNvSpPr/>
          <p:nvPr/>
        </p:nvSpPr>
        <p:spPr>
          <a:xfrm>
            <a:off x="8549640" y="685800"/>
            <a:ext cx="2606040" cy="3950208"/>
          </a:xfrm>
          <a:prstGeom prst="roundRect">
            <a:avLst>
              <a:gd name="adj" fmla="val 4211"/>
            </a:avLst>
          </a:prstGeom>
          <a:solidFill>
            <a:srgbClr val="111827"/>
          </a:solidFill>
          <a:ln w="19050">
            <a:solidFill>
              <a:srgbClr val="FDE047"/>
            </a:solidFill>
            <a:prstDash val="solid"/>
          </a:ln>
        </p:spPr>
      </p:sp>
      <p:sp>
        <p:nvSpPr>
          <p:cNvPr id="15" name="Text 13"/>
          <p:cNvSpPr/>
          <p:nvPr/>
        </p:nvSpPr>
        <p:spPr>
          <a:xfrm>
            <a:off x="8686800" y="914400"/>
            <a:ext cx="2331720" cy="274320"/>
          </a:xfrm>
          <a:prstGeom prst="rect">
            <a:avLst/>
          </a:prstGeom>
          <a:noFill/>
          <a:ln/>
        </p:spPr>
        <p:txBody>
          <a:bodyPr wrap="square" rtlCol="0" anchor="ctr"/>
          <a:lstStyle/>
          <a:p>
            <a:pPr algn="ctr" indent="0" marL="0">
              <a:buNone/>
            </a:pPr>
            <a:r>
              <a:rPr lang="en-US" sz="1000" b="1" dirty="0">
                <a:solidFill>
                  <a:srgbClr val="FDE047"/>
                </a:solidFill>
                <a:latin typeface="Arial" pitchFamily="34" charset="0"/>
                <a:ea typeface="Arial" pitchFamily="34" charset="-122"/>
                <a:cs typeface="Arial" pitchFamily="34" charset="-120"/>
              </a:rPr>
              <a:t>KEY METRIC</a:t>
            </a:r>
            <a:endParaRPr lang="en-US" sz="1000" dirty="0"/>
          </a:p>
        </p:txBody>
      </p:sp>
      <p:sp>
        <p:nvSpPr>
          <p:cNvPr id="16" name="Text 14"/>
          <p:cNvSpPr/>
          <p:nvPr/>
        </p:nvSpPr>
        <p:spPr>
          <a:xfrm>
            <a:off x="8686800" y="1463040"/>
            <a:ext cx="2331720"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AGENCY</a:t>
            </a:r>
            <a:endParaRPr lang="en-US" sz="3200" dirty="0"/>
          </a:p>
        </p:txBody>
      </p:sp>
      <p:sp>
        <p:nvSpPr>
          <p:cNvPr id="17" name="Text 15"/>
          <p:cNvSpPr/>
          <p:nvPr/>
        </p:nvSpPr>
        <p:spPr>
          <a:xfrm>
            <a:off x="8686800" y="2286000"/>
            <a:ext cx="2331720" cy="36576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SYNTHESIS</a:t>
            </a:r>
            <a:endParaRPr lang="en-US" sz="1000" dirty="0"/>
          </a:p>
        </p:txBody>
      </p:sp>
      <p:sp>
        <p:nvSpPr>
          <p:cNvPr id="18" name="Text 16"/>
          <p:cNvSpPr/>
          <p:nvPr/>
        </p:nvSpPr>
        <p:spPr>
          <a:xfrm>
            <a:off x="8686800" y="2743200"/>
            <a:ext cx="2331720" cy="73152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Self-reflective deterministic navigation</a:t>
            </a:r>
            <a:endParaRPr lang="en-US" sz="950" dirty="0"/>
          </a:p>
        </p:txBody>
      </p:sp>
      <p:sp>
        <p:nvSpPr>
          <p:cNvPr id="19" name="Text 17"/>
          <p:cNvSpPr/>
          <p:nvPr/>
        </p:nvSpPr>
        <p:spPr>
          <a:xfrm>
            <a:off x="8686800" y="4160520"/>
            <a:ext cx="233172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Slide 14 of 14</a:t>
            </a:r>
            <a:endParaRPr lang="en-US" sz="900" dirty="0"/>
          </a:p>
        </p:txBody>
      </p:sp>
      <p:sp>
        <p:nvSpPr>
          <p:cNvPr id="20" name="Text 18"/>
          <p:cNvSpPr/>
          <p:nvPr/>
        </p:nvSpPr>
        <p:spPr>
          <a:xfrm>
            <a:off x="731520" y="475488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Free Will: Real or Fake? // Master Academic Lecture Presentation Deck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Academic Lecture Series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 Will: Real or Fake?</dc:title>
  <dc:subject>Free Will: Real or Fake? - Comprehensive Lecture Deck</dc:subject>
  <dc:creator>Google Antigravity &amp; AI Lecture Series</dc:creator>
  <cp:lastModifiedBy>Google Antigravity &amp; AI Lecture Series</cp:lastModifiedBy>
  <cp:revision>1</cp:revision>
  <dcterms:created xsi:type="dcterms:W3CDTF">2026-09-04T19:34:34Z</dcterms:created>
  <dcterms:modified xsi:type="dcterms:W3CDTF">2026-09-04T19:34:34Z</dcterms:modified>
</cp:coreProperties>
</file>